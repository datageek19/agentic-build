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104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0ADFE-F279-442D-976A-9D21F8CFA295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D75D2-4F53-405F-9755-5E77E90D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58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5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E3AD-D881-94CA-06F4-A53735CB6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38565-5481-691D-F39B-D1EC513F3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3796F-2441-D2DF-C6B0-E114C8FD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73DF8-C3D0-E8DD-6EEE-FA4B8009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19476-F27A-1FB6-FAB0-55D976B3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8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93DA-C106-D99A-B1F1-8F570C89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33B92-DA15-CB19-8415-FEE620585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12772-3373-218D-CDC1-1887E868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6C03-7A44-B9BA-5985-55F40930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AD26-9C7F-8FE0-FFDC-6DD60208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0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8A69-6AA6-DF40-FF4A-86C4D50F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6C30-AA4D-0A47-90EC-4B446DD66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CDF9-892D-1852-846E-D46C262A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51CB-FA27-795D-E94F-113E58F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6FB4D-E46B-D085-74DA-BF7D1F6E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9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3E7C-B906-86A3-993F-469A9B8E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25309-F8A3-9023-0764-A61D4BF17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A9D9-6F30-F813-6A4E-6215E1129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0CBF-95B6-7796-A257-6E99EE0D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01CB7-7160-E9A1-28CD-A4BFBEC3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E69FD-42BE-2265-56D6-602639C0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6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9659-868B-47C4-45B5-DED28839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82859-737D-09AB-3946-BAF234FA0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5F573-C23F-5A7A-7F54-EAB4B497D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C4C1D-B265-4ED1-05CF-869BC10EB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ACF90-464F-D5AE-8BC5-41F615D90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B2337-C956-99C2-B591-62E5C0C8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B1F70-0FAE-F679-4CCD-6EB5B582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B538A-7AD8-65AC-8A9E-0EA3639A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8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91BB-BE8E-8E98-BD0C-66FB52DC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81CC4-9094-6ED6-5F15-FC25D2EB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A739A-C51C-CF43-BF37-16B5239A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D8B2-0A59-D0B4-FED5-6BCA2737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8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6967E-9E92-1530-461A-DA565CAC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1B86E-2134-A949-79E9-5B5FD851B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EECFB-92E6-E4A4-26F3-AD4CD7B0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E7D1-088F-8ED8-9169-8C2B4593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1FE3-29CD-95D9-EC2C-562940CCE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8D6F9-0B07-1374-14BD-3C2E28CB8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1FA-6F09-261F-12A2-C5ED770FF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A59A4-36AD-4900-AB6F-43E17586E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FF273-D995-0A03-5175-BF997A3C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7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8F95-22B7-82C5-6712-AB5DC8B0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9A3C9-736C-559A-4C93-449AB66AF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EAB78-A384-628D-37D0-A3B69C542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66A6A-8EB4-EE97-F442-795A56DD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01ACA-0BA4-1A56-F103-4E321B57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F35A2-902D-B1BC-668E-8DCB1FA5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7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F8B1-4CC7-C2A2-DAEE-2B6CE13F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57C1-58BE-90AD-A2F3-6BF8C69C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EF7F-4E7A-F198-783C-E4B90D5E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7A156-8B47-3584-2FE7-B16E884E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DD721-E178-9797-D38F-3DFC848D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8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F8C45-5311-EC0F-736D-233C3D90B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33988-3952-D22A-6733-FCA203B5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B437-035E-6F75-708C-D6E23F14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B76CF-FBAA-B8AD-FA6F-120EC95D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3A6C3-DF06-31CE-D004-327B0E22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81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82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0918C-15C2-C2E8-FA63-6216E4F8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C3A7-7855-64A8-396C-6D73A00C1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5164A-86D3-14BD-9452-687DF6C63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B9F0F-F5A7-4CC4-9E30-A076CC7461C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DFBC1-BBE0-A925-820C-5950EFD77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61BE-497F-459F-BB6F-68442C7B1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A2EF2-6AB5-447E-9D1A-45C490449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39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ocophillips-my.sharepoint.com/:w:/p/jurat_shayidin_contractor/IQDAeSraXAORQIK13u6yS4KnAa0_0ofPEG52UWv6AVAUyoQ?wdExp=TEAMS-TREATMENT&amp;web=1&amp;isSPOFile=1&amp;ovuser=b449db5e-a80a-48eb-a4c2-3c88bb78353b%2CRavi.E.Anand%40contractor.conocophillips.com&amp;clickparams=eyJBcHBOYW1lIjoiVGVhbXMtRGVza3RvcCIsIkFwcFZlcnNpb24iOiI0OS8yNjA4MDIwMDYwNyJ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8BE0-9550-EE5A-9BC7-BCD2EA5C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E2CDE-C100-ABE4-B103-466AD89879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78E8DB-B848-F5F0-C7DC-F5C458C225C8}"/>
              </a:ext>
            </a:extLst>
          </p:cNvPr>
          <p:cNvSpPr/>
          <p:nvPr/>
        </p:nvSpPr>
        <p:spPr>
          <a:xfrm flipV="1">
            <a:off x="172205" y="0"/>
            <a:ext cx="6096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chemeClr val="tx1">
                  <a:alpha val="3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itle 24">
            <a:extLst>
              <a:ext uri="{FF2B5EF4-FFF2-40B4-BE49-F238E27FC236}">
                <a16:creationId xmlns:a16="http://schemas.microsoft.com/office/drawing/2014/main" id="{F219F849-0A21-2592-4DBD-ED230DF5563E}"/>
              </a:ext>
            </a:extLst>
          </p:cNvPr>
          <p:cNvSpPr txBox="1">
            <a:spLocks/>
          </p:cNvSpPr>
          <p:nvPr/>
        </p:nvSpPr>
        <p:spPr>
          <a:xfrm>
            <a:off x="443714" y="1482957"/>
            <a:ext cx="5390416" cy="18264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pPr>
              <a:lnSpc>
                <a:spcPct val="104000"/>
              </a:lnSpc>
            </a:pPr>
            <a:r>
              <a:rPr lang="en-US" sz="3200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SEMANTIC VIEWS IN SNOWFLAKE CORTEX</a:t>
            </a:r>
            <a:endParaRPr lang="en-US" sz="3200" b="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Medium" panose="020B0503030202060203" pitchFamily="34" charset="77"/>
              <a:ea typeface="+mj-ea"/>
              <a:cs typeface="+mj-cs"/>
            </a:endParaRPr>
          </a:p>
          <a:p>
            <a:pPr marL="0" marR="0" lvl="0" indent="0" algn="l" defTabSz="914377" rtl="0" eaLnBrk="1" fontAlgn="auto" latinLnBrk="0" hangingPunct="1">
              <a:lnSpc>
                <a:spcPct val="86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rgbClr val="FFFFFF"/>
                </a:solidFill>
                <a:latin typeface="Graphik Medium" panose="020B0503030202060203" pitchFamily="34" charset="77"/>
              </a:rPr>
              <a:t>Aug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 panose="020B0503030202060203" pitchFamily="34" charset="77"/>
                <a:ea typeface="+mj-ea"/>
                <a:cs typeface="+mj-cs"/>
              </a:rPr>
              <a:t>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2CD08-CD1B-FC13-6BEE-DE94A2C30623}"/>
              </a:ext>
            </a:extLst>
          </p:cNvPr>
          <p:cNvSpPr/>
          <p:nvPr/>
        </p:nvSpPr>
        <p:spPr>
          <a:xfrm flipV="1">
            <a:off x="6096000" y="0"/>
            <a:ext cx="6096000" cy="685800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732B8B-9E3E-9222-9608-BCF322616AE9}"/>
              </a:ext>
            </a:extLst>
          </p:cNvPr>
          <p:cNvGrpSpPr/>
          <p:nvPr/>
        </p:nvGrpSpPr>
        <p:grpSpPr>
          <a:xfrm>
            <a:off x="8971796" y="381000"/>
            <a:ext cx="2839204" cy="363220"/>
            <a:chOff x="8724987" y="393750"/>
            <a:chExt cx="2839204" cy="36322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7CD2E43-CB95-38F2-A027-C382DB3B4B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724987" y="419316"/>
              <a:ext cx="1090390" cy="286004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518AFB-1932-F5C7-F78C-FDE7C433A1F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5345" y="421690"/>
              <a:ext cx="0" cy="33528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2A29BFD-8747-F0E8-E6BF-EA506F51D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99844" y="393750"/>
              <a:ext cx="1364347" cy="337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858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468880"/>
            <a:ext cx="1417320" cy="82296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464040" y="2926080"/>
            <a:ext cx="1417320" cy="36576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64040" y="3291840"/>
            <a:ext cx="0" cy="1463040"/>
          </a:xfrm>
          <a:prstGeom prst="line">
            <a:avLst/>
          </a:prstGeom>
          <a:noFill/>
          <a:ln w="254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2668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26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61320" y="26060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613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0" y="4434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79992" y="2907792"/>
            <a:ext cx="768096" cy="7680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79992" y="29077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SEMANTIC VIEWS IN SNOWFLAKE CORTEX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Domain Modeling to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Analytics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playbook: from a monolithic semantic model to a domain-decomposed,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agent-orchestrated architecture on Cortex Analyst and Cortex Search.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Ravi E. Anand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Land Domain Agent — AG_LAND_QUORUM_AGENT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3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8196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81965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55080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22008" y="16916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6243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8448" y="249631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Before: One Monolithic Semantic View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249631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262432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5080" y="2624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22008" y="249631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 Into Subdomain Semantic Views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3429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8448" y="330098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Challenge — and Its Solution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330098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42900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080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22008" y="330098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Workflow, Step by Step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105656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31520" y="4233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4233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98448" y="4105656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Semantic View: A 10-Step Tutorial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4105656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423367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55080" y="4233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22008" y="4105656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4910328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1520" y="50383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50383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98448" y="4910328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 Flow — Two Example Questions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72200" y="4910328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55080" y="503834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55080" y="50383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22008" y="4910328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57150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31520" y="58430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1520" y="5843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98448" y="571500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Accenture  | ConocoPhillips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Semantic Model Stops Scaling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545336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semantic model spanning 16 tables / 198 columns became difficult to govern and extend.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350008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 (agreements, ownership, obligations) have separate owners and separate vocabularies.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cannot execute joins across two separate semantic views.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959352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Users ask both structured questions (“how much / how many”) and semi-structured questions (“what does the policy say”).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764024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needs to scale to more domains without repeating this pain.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52360" y="160020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0" y="22860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we modularize semantic models while still answering cross-domain business questions?”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Agent-Orchestrated Query Routing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0" y="1600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70048" y="16002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49040" y="1984248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0" y="211226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70048" y="2112264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9040" y="2496312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262432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70048" y="262432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3008376"/>
            <a:ext cx="0" cy="7681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71700" y="3085186"/>
            <a:ext cx="315468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71700" y="3085186"/>
            <a:ext cx="0" cy="5120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26380" y="3085186"/>
            <a:ext cx="0" cy="5120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13639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3136392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86200" y="313639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95928" y="3136392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171700" y="3520440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26380" y="3520440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" y="3648456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" y="3648456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(direct)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86200" y="3648456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95928" y="3648456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71700" y="4032504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26380" y="4032504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171700" y="4096512"/>
            <a:ext cx="315468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49040" y="4096512"/>
            <a:ext cx="0" cy="64008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0" y="41605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70048" y="416052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Logic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749040" y="4544568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60320" y="467258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670048" y="4672584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749040" y="5056632"/>
            <a:ext cx="0" cy="128016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1520" y="51846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41248" y="5184648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886200" y="518464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95928" y="5184648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Tables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611880" y="5376672"/>
            <a:ext cx="274320" cy="0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52360" y="1600200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26680" y="2276856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36992" y="215798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inspects the question and decides how to answer it.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726680" y="3209544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936992" y="30906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 route directly to Cortex Analyst.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26680" y="4142232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936992" y="4023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questions first retrieve context via Cortex Search, then hand that context to Analyst.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726680" y="507492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36992" y="495604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 generates SQL against the correct Semantic View, which reads the underlying Snowflake tables.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Before: One Monolithic Semantic View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B8B4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QUORUM LAND — SINGLE SEMANTIC 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AGMT_HDR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2888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42616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ACREAGE_AGM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97096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06824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RA_BASIN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61304" y="22402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71032" y="2240280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RA_PROSPECT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8408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RELATED_AGREEMENTS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32888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42616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QLA_AGMT_HDR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97096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06824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61304" y="2752344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71032" y="2752344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RMK_AGMT_HDR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8408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32888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42616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COP_WI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97096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06824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BA_NAME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61304" y="3264408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71032" y="326440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BA_ADDRESS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8408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BA_ADDR_USAGES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32888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642616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RELATED_WELL_AGMT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97096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06824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PIP_TYPES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61304" y="3776472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71032" y="3776472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PIP_TYPE_CATG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68680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8408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532888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642616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PROVISIONS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197096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306824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HIST_PROVISION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61304" y="4288536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71032" y="4288536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more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589520" y="160020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86384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 TABLES  •  198 COLUMNS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863840" y="242316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86384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321040" y="23500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 as the domain grows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3840" y="317296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863840" y="3172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321040" y="30998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business areas mixed in one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92277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63840" y="3922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321040" y="384962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 boundary per team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863840" y="4672584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863840" y="4672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321040" y="45994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degrades with schema size — more tables &amp; deeper joins increase timeout and error risk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Breaking Into Subdomain Semantic Views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Agreement &amp; Acreage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tables / 72 cols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AGMT_HDR · ACREAGE_AGM · RA_BASIN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Land holding questions: leases, basins, expiring agreements.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 &amp; Interests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9432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tables / 78 cols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· COP_WI · BA_NAME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99432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Ownership questions: working interest, operators, associated wells.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84464" y="16002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84464" y="16002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67344" y="167335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Contracts &amp; Obligations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67344" y="25328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tables / 48 cols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67344" y="28437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· PROVISIONS · HIST_PROVISION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67344" y="32918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questions: payment due dates, provisions, overdue items.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3756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3756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3989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 domain ownership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2648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648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2881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Smaller reasoning context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15400" y="5166360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1540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17736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cycles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 Cannot Join Across Semantic Views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30723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Agreement &amp; Acreage SV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Acreage, Basin, Prospect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21040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30768" y="1691640"/>
            <a:ext cx="30723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&amp; Interests SV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Working Interest, Ownership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32120" y="2148840"/>
            <a:ext cx="1097280" cy="10972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32120" y="2148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0" y="3337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cross-view join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80760" y="3657600"/>
            <a:ext cx="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4114800"/>
            <a:ext cx="77724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14600" y="431596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14600" y="47731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24912" y="46542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Semantic View — duplicates the minimum set of cross-domain tables so one view can answer cross-domain questions without a live cross-view join.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14600" y="52303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24912" y="51114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— the router recognizes cross-domain questions and directs them to the integration view instead of a single-domain view.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14600" y="568756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24912" y="556869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 — pure single-domain questions still route to their own lightweight, purpose-built semantic view.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 — Step by Step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15568" y="1572768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6736" y="1572768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natural-language question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0664" y="2011680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15568" y="2157984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6736" y="2157984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detects intent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0664" y="2596896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15568" y="2743200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6736" y="2743200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does the question need supporting documents?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0664" y="3182112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15568" y="3328416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16736" y="3328416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 → Cortex Search retrieves relevant context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0664" y="3767328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15568" y="3913632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16736" y="3913632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 passed to Cortex Analyst (with Semantic View)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0664" y="4352544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15568" y="4498848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16736" y="4498848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Analyst generates SQL and executes it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0664" y="4937760"/>
            <a:ext cx="0" cy="146304"/>
          </a:xfrm>
          <a:prstGeom prst="line">
            <a:avLst/>
          </a:prstGeom>
          <a:noFill/>
          <a:ln w="25400">
            <a:solidFill>
              <a:srgbClr val="AFC2E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15568" y="5084064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16736" y="5084064"/>
            <a:ext cx="5312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to the user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23760" y="1645920"/>
            <a:ext cx="438912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808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5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ROUTES THROUGH THE AGENT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route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→ Cortex Analyst → Semantic View → SQL → Answer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98080" y="3246120"/>
            <a:ext cx="38404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0" y="3383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route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9808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→ Cortex Search → Retrieved Context → Cortex Analyst → Semantic View → SQL → Answer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498080" y="4617720"/>
            <a:ext cx="3840480" cy="0"/>
          </a:xfrm>
          <a:prstGeom prst="line">
            <a:avLst/>
          </a:prstGeom>
          <a:noFill/>
          <a:ln w="12700">
            <a:solidFill>
              <a:srgbClr val="3B46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0" y="4800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converge on the same Semantic View layer — the routing decision only changes how context is gathered before SQL generation.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PART 1 OF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Semantic View — Steps 1–5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55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25880" y="1600200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business requirements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00200" y="198424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“What obligations are due in 30 days?” “Total acreage by basin?” “Who owns what working interest?”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25880" y="2441448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2514600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business entities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825496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Agreement, Party, Acreage, Obligation, Well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25880" y="3282696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3355848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hub entity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366674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table with a 1:M relationship to every child — here, Agreement Header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25880" y="4123944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4197096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relationships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4507992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Agreement Header → Acreage → Participation → Obligation, each on ARRG_KEY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020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25880" y="4965192"/>
            <a:ext cx="10287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00200" y="5038344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dimensions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State, County, Basin, Prospect, Obligation Type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PART 2 OF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Semantic View — Steps 6–10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70432" y="157276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measures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06440" y="15727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Acreage Amount, Working Interest %, Payment Amount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2194560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Create calculated metrics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06440" y="219456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 Acreage %, Overdue Obligation Ratio, YoY Obligation Growth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2816352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Semantic View YAML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06440" y="281635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tables · dimensions · measures · relationships · verified_queries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70432" y="3438144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06440" y="34381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YAML syntax, relationship integrity, metric definitions, sample queries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087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70432" y="4059936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Semantic View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06440" y="4059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the agent as a tool and confirm routing works end to 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10195560" cy="0"/>
          </a:xfrm>
          <a:prstGeom prst="line">
            <a:avLst/>
          </a:prstGeom>
          <a:noFill/>
          <a:ln w="12700">
            <a:solidFill>
              <a:srgbClr val="AFC2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928616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9646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            agmt_hdr, acreage_agm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dimensions:        state, basin, prospect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measures:          acreage_amt, pct_int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relationships:     agmt_hdr -&gt; acreage_agm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verified_queries:  "total acreage by basin"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97053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 domain per Semantic View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73368" y="197053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3368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9440" y="16916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across tables &amp; columns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31866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9808" y="31866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290779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measures shared were valid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29077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73368" y="31866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73368" y="31866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290779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Natural business terminology, not raw column names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9808" y="440283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9808" y="4402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4123944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Avoid circular joins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4123944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73368" y="440283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3368" y="4402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0" y="4123944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Minimize unnecessary relationships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561898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808" y="56189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25880" y="5340096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verified queries for top questions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2">
            <a:hlinkClick r:id="rId3" tooltip="Semantic View Definition Standards"/>
            <a:extLst>
              <a:ext uri="{FF2B5EF4-FFF2-40B4-BE49-F238E27FC236}">
                <a16:creationId xmlns:a16="http://schemas.microsoft.com/office/drawing/2014/main" id="{F4985E8D-9D9A-B204-AF4B-C9F2F4951806}"/>
              </a:ext>
            </a:extLst>
          </p:cNvPr>
          <p:cNvSpPr/>
          <p:nvPr/>
        </p:nvSpPr>
        <p:spPr>
          <a:xfrm>
            <a:off x="6184392" y="528523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</a:t>
            </a:r>
          </a:p>
          <a:p>
            <a:pPr>
              <a:defRPr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</a:t>
            </a: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en-US" sz="2000" b="1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Definition Standards</a:t>
            </a:r>
            <a:endParaRPr lang="en-US" sz="2000" b="1" dirty="0">
              <a:solidFill>
                <a:schemeClr val="accent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89FE955A-872C-D9B3-BB5F-4A36CD2F2009}"/>
              </a:ext>
            </a:extLst>
          </p:cNvPr>
          <p:cNvSpPr/>
          <p:nvPr/>
        </p:nvSpPr>
        <p:spPr>
          <a:xfrm>
            <a:off x="6460067" y="5564124"/>
            <a:ext cx="3894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8A8A96AB-E4B6-D7EC-35D5-365382F5FD59}"/>
              </a:ext>
            </a:extLst>
          </p:cNvPr>
          <p:cNvSpPr/>
          <p:nvPr/>
        </p:nvSpPr>
        <p:spPr>
          <a:xfrm>
            <a:off x="6400800" y="550240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Two Example Questions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4443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“Total acreage by basin this quarter”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1056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Agreement &amp; Acreage SV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148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Question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73368" y="2468880"/>
            <a:ext cx="4443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the JOA say about non-consent penalties?”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3584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41056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Documents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462686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4855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5148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08152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3008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3989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3666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398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8016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Better governance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16459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AFC2E8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Benefits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20840" y="2350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Smaller Semantic Views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3081528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20840" y="3008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Better query performance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373989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20840" y="36667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4398264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4398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2084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AI-ready analytics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Design Pattern  |  Snowflake Cortex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D9A4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213055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Semantic View generation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64808" y="213055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4808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1248" y="33009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3300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3044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semantic federation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304495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64808" y="33009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4808" y="3300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3044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Semantic Views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248" y="447141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1248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42153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421538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52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64808" y="447141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4808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40880" y="42153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 learning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B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532071510A14F80351FD273B16F66" ma:contentTypeVersion="3" ma:contentTypeDescription="Create a new document." ma:contentTypeScope="" ma:versionID="7c4b47bd3cd72fa2c0ce7d6ccd8e3656">
  <xsd:schema xmlns:xsd="http://www.w3.org/2001/XMLSchema" xmlns:xs="http://www.w3.org/2001/XMLSchema" xmlns:p="http://schemas.microsoft.com/office/2006/metadata/properties" xmlns:ns2="933530f3-4e10-4921-aa0d-6d6486103160" targetNamespace="http://schemas.microsoft.com/office/2006/metadata/properties" ma:root="true" ma:fieldsID="f742f32e32fbaae9a857e0b85cefc6e4" ns2:_="">
    <xsd:import namespace="933530f3-4e10-4921-aa0d-6d64861031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530f3-4e10-4921-aa0d-6d64861031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50DDB2-3F8B-4E14-9C07-0D7D80D23EC8}"/>
</file>

<file path=customXml/itemProps2.xml><?xml version="1.0" encoding="utf-8"?>
<ds:datastoreItem xmlns:ds="http://schemas.openxmlformats.org/officeDocument/2006/customXml" ds:itemID="{FEDB611A-958E-4BE5-9A8B-A3C7BB47B5E5}"/>
</file>

<file path=customXml/itemProps3.xml><?xml version="1.0" encoding="utf-8"?>
<ds:datastoreItem xmlns:ds="http://schemas.openxmlformats.org/officeDocument/2006/customXml" ds:itemID="{2D9BC3A4-3619-4C8D-AC10-1D8EC0872FD4}"/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1287</Words>
  <Application>Microsoft Office PowerPoint</Application>
  <PresentationFormat>Widescreen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</vt:lpstr>
      <vt:lpstr>Courier New</vt:lpstr>
      <vt:lpstr>Graphik</vt:lpstr>
      <vt:lpstr>Graphik Medium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Anand, Ravi E (Accenture)</dc:creator>
  <cp:lastModifiedBy>Anand, Ravi E (Accenture)</cp:lastModifiedBy>
  <cp:revision>4</cp:revision>
  <dcterms:created xsi:type="dcterms:W3CDTF">2026-08-06T11:59:43Z</dcterms:created>
  <dcterms:modified xsi:type="dcterms:W3CDTF">2026-08-06T12:26:54Z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0x010100180532071510A14F80351FD273B16F66</vt:lpwstr>
  </property>
</Properties>
</file>